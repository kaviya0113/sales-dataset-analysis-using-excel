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0"/>
  </p:notesMasterIdLst>
  <p:handoutMasterIdLst>
    <p:handoutMasterId r:id="rId21"/>
  </p:handoutMasterIdLst>
  <p:sldIdLst>
    <p:sldId id="326" r:id="rId5"/>
    <p:sldId id="304" r:id="rId6"/>
    <p:sldId id="307" r:id="rId7"/>
    <p:sldId id="281" r:id="rId8"/>
    <p:sldId id="282" r:id="rId9"/>
    <p:sldId id="327" r:id="rId10"/>
    <p:sldId id="314" r:id="rId11"/>
    <p:sldId id="323" r:id="rId12"/>
    <p:sldId id="328" r:id="rId13"/>
    <p:sldId id="318" r:id="rId14"/>
    <p:sldId id="319" r:id="rId15"/>
    <p:sldId id="321" r:id="rId16"/>
    <p:sldId id="322" r:id="rId17"/>
    <p:sldId id="325" r:id="rId18"/>
    <p:sldId id="297" r:id="rId1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388" autoAdjust="0"/>
  </p:normalViewPr>
  <p:slideViewPr>
    <p:cSldViewPr snapToGrid="0" snapToObjects="1">
      <p:cViewPr varScale="1">
        <p:scale>
          <a:sx n="87" d="100"/>
          <a:sy n="87" d="100"/>
        </p:scale>
        <p:origin x="480" y="77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ika kavi" userId="2f87e268613a4333" providerId="LiveId" clId="{7E5BBA48-4904-47FE-B8A2-E485628FD143}"/>
    <pc:docChg chg="custSel modSld">
      <pc:chgData name="simika kavi" userId="2f87e268613a4333" providerId="LiveId" clId="{7E5BBA48-4904-47FE-B8A2-E485628FD143}" dt="2025-09-02T04:07:32.834" v="180" actId="1076"/>
      <pc:docMkLst>
        <pc:docMk/>
      </pc:docMkLst>
      <pc:sldChg chg="addSp delSp modSp mod">
        <pc:chgData name="simika kavi" userId="2f87e268613a4333" providerId="LiveId" clId="{7E5BBA48-4904-47FE-B8A2-E485628FD143}" dt="2025-09-02T03:52:33.853" v="119" actId="14100"/>
        <pc:sldMkLst>
          <pc:docMk/>
          <pc:sldMk cId="1131718056" sldId="314"/>
        </pc:sldMkLst>
        <pc:picChg chg="add mod">
          <ac:chgData name="simika kavi" userId="2f87e268613a4333" providerId="LiveId" clId="{7E5BBA48-4904-47FE-B8A2-E485628FD143}" dt="2025-09-02T03:52:33.853" v="119" actId="14100"/>
          <ac:picMkLst>
            <pc:docMk/>
            <pc:sldMk cId="1131718056" sldId="314"/>
            <ac:picMk id="3" creationId="{AF16D6FB-4123-58AA-3AF1-D2BD2CAED20B}"/>
          </ac:picMkLst>
        </pc:picChg>
        <pc:picChg chg="del">
          <ac:chgData name="simika kavi" userId="2f87e268613a4333" providerId="LiveId" clId="{7E5BBA48-4904-47FE-B8A2-E485628FD143}" dt="2025-09-02T03:48:52.524" v="109" actId="21"/>
          <ac:picMkLst>
            <pc:docMk/>
            <pc:sldMk cId="1131718056" sldId="314"/>
            <ac:picMk id="12" creationId="{A93336E9-0623-0E09-9FC8-E0B759AA3690}"/>
          </ac:picMkLst>
        </pc:picChg>
      </pc:sldChg>
      <pc:sldChg chg="addSp delSp modSp mod">
        <pc:chgData name="simika kavi" userId="2f87e268613a4333" providerId="LiveId" clId="{7E5BBA48-4904-47FE-B8A2-E485628FD143}" dt="2025-09-02T04:07:32.834" v="180" actId="1076"/>
        <pc:sldMkLst>
          <pc:docMk/>
          <pc:sldMk cId="4072101725" sldId="318"/>
        </pc:sldMkLst>
        <pc:spChg chg="mod">
          <ac:chgData name="simika kavi" userId="2f87e268613a4333" providerId="LiveId" clId="{7E5BBA48-4904-47FE-B8A2-E485628FD143}" dt="2025-09-02T03:50:48.265" v="115" actId="1076"/>
          <ac:spMkLst>
            <pc:docMk/>
            <pc:sldMk cId="4072101725" sldId="318"/>
            <ac:spMk id="3" creationId="{9443EC8A-1733-CCF7-081F-EB4667CB3285}"/>
          </ac:spMkLst>
        </pc:spChg>
        <pc:picChg chg="add mod">
          <ac:chgData name="simika kavi" userId="2f87e268613a4333" providerId="LiveId" clId="{7E5BBA48-4904-47FE-B8A2-E485628FD143}" dt="2025-09-02T04:07:32.834" v="180" actId="1076"/>
          <ac:picMkLst>
            <pc:docMk/>
            <pc:sldMk cId="4072101725" sldId="318"/>
            <ac:picMk id="4" creationId="{35DC614E-43D5-172A-3217-F1166F498E15}"/>
          </ac:picMkLst>
        </pc:picChg>
        <pc:picChg chg="del">
          <ac:chgData name="simika kavi" userId="2f87e268613a4333" providerId="LiveId" clId="{7E5BBA48-4904-47FE-B8A2-E485628FD143}" dt="2025-09-02T03:48:46.483" v="108" actId="21"/>
          <ac:picMkLst>
            <pc:docMk/>
            <pc:sldMk cId="4072101725" sldId="318"/>
            <ac:picMk id="8" creationId="{E489F331-5D43-FAA6-FBA1-2B31C7323282}"/>
          </ac:picMkLst>
        </pc:picChg>
      </pc:sldChg>
      <pc:sldChg chg="modSp mod">
        <pc:chgData name="simika kavi" userId="2f87e268613a4333" providerId="LiveId" clId="{7E5BBA48-4904-47FE-B8A2-E485628FD143}" dt="2025-09-02T03:53:33.542" v="120" actId="113"/>
        <pc:sldMkLst>
          <pc:docMk/>
          <pc:sldMk cId="3969996159" sldId="319"/>
        </pc:sldMkLst>
        <pc:spChg chg="mod">
          <ac:chgData name="simika kavi" userId="2f87e268613a4333" providerId="LiveId" clId="{7E5BBA48-4904-47FE-B8A2-E485628FD143}" dt="2025-09-02T03:53:33.542" v="120" actId="113"/>
          <ac:spMkLst>
            <pc:docMk/>
            <pc:sldMk cId="3969996159" sldId="319"/>
            <ac:spMk id="4" creationId="{97DCC342-9FD1-7055-EAAC-008DC851B13F}"/>
          </ac:spMkLst>
        </pc:spChg>
        <pc:picChg chg="mod modCrop">
          <ac:chgData name="simika kavi" userId="2f87e268613a4333" providerId="LiveId" clId="{7E5BBA48-4904-47FE-B8A2-E485628FD143}" dt="2025-09-02T03:48:37.769" v="107" actId="1076"/>
          <ac:picMkLst>
            <pc:docMk/>
            <pc:sldMk cId="3969996159" sldId="319"/>
            <ac:picMk id="12" creationId="{8A8004C5-1B29-BECC-E75E-F049D8D98489}"/>
          </ac:picMkLst>
        </pc:picChg>
      </pc:sldChg>
      <pc:sldChg chg="delSp modSp mod">
        <pc:chgData name="simika kavi" userId="2f87e268613a4333" providerId="LiveId" clId="{7E5BBA48-4904-47FE-B8A2-E485628FD143}" dt="2025-09-01T14:32:33.701" v="21" actId="21"/>
        <pc:sldMkLst>
          <pc:docMk/>
          <pc:sldMk cId="2498021601" sldId="321"/>
        </pc:sldMkLst>
        <pc:spChg chg="del">
          <ac:chgData name="simika kavi" userId="2f87e268613a4333" providerId="LiveId" clId="{7E5BBA48-4904-47FE-B8A2-E485628FD143}" dt="2025-09-01T14:32:33.701" v="21" actId="21"/>
          <ac:spMkLst>
            <pc:docMk/>
            <pc:sldMk cId="2498021601" sldId="321"/>
            <ac:spMk id="2" creationId="{1DCFAD14-1AAA-8CDA-A49B-523FD6C66F35}"/>
          </ac:spMkLst>
        </pc:spChg>
        <pc:spChg chg="mod">
          <ac:chgData name="simika kavi" userId="2f87e268613a4333" providerId="LiveId" clId="{7E5BBA48-4904-47FE-B8A2-E485628FD143}" dt="2025-09-01T14:28:32.544" v="17" actId="1076"/>
          <ac:spMkLst>
            <pc:docMk/>
            <pc:sldMk cId="2498021601" sldId="321"/>
            <ac:spMk id="8" creationId="{BF54AC06-5E80-0D2B-52B8-D67DE55E1A34}"/>
          </ac:spMkLst>
        </pc:spChg>
        <pc:spChg chg="mod">
          <ac:chgData name="simika kavi" userId="2f87e268613a4333" providerId="LiveId" clId="{7E5BBA48-4904-47FE-B8A2-E485628FD143}" dt="2025-09-01T14:32:21.200" v="20" actId="14100"/>
          <ac:spMkLst>
            <pc:docMk/>
            <pc:sldMk cId="2498021601" sldId="321"/>
            <ac:spMk id="12" creationId="{288BD9B8-D6A6-D55A-830D-4D3CC2DC3933}"/>
          </ac:spMkLst>
        </pc:spChg>
        <pc:picChg chg="mod">
          <ac:chgData name="simika kavi" userId="2f87e268613a4333" providerId="LiveId" clId="{7E5BBA48-4904-47FE-B8A2-E485628FD143}" dt="2025-09-01T14:28:19.735" v="15" actId="14100"/>
          <ac:picMkLst>
            <pc:docMk/>
            <pc:sldMk cId="2498021601" sldId="321"/>
            <ac:picMk id="6" creationId="{A1FA5586-A10D-20A4-790F-A2A8781B8B1C}"/>
          </ac:picMkLst>
        </pc:picChg>
      </pc:sldChg>
      <pc:sldChg chg="modSp mod">
        <pc:chgData name="simika kavi" userId="2f87e268613a4333" providerId="LiveId" clId="{7E5BBA48-4904-47FE-B8A2-E485628FD143}" dt="2025-09-01T14:27:48.859" v="13" actId="14100"/>
        <pc:sldMkLst>
          <pc:docMk/>
          <pc:sldMk cId="1686213229" sldId="322"/>
        </pc:sldMkLst>
        <pc:spChg chg="mod">
          <ac:chgData name="simika kavi" userId="2f87e268613a4333" providerId="LiveId" clId="{7E5BBA48-4904-47FE-B8A2-E485628FD143}" dt="2025-09-01T14:27:40.431" v="12" actId="14100"/>
          <ac:spMkLst>
            <pc:docMk/>
            <pc:sldMk cId="1686213229" sldId="322"/>
            <ac:spMk id="6" creationId="{F7EDB9CB-20CA-E04D-E9D4-561889B1F4A2}"/>
          </ac:spMkLst>
        </pc:spChg>
        <pc:picChg chg="mod">
          <ac:chgData name="simika kavi" userId="2f87e268613a4333" providerId="LiveId" clId="{7E5BBA48-4904-47FE-B8A2-E485628FD143}" dt="2025-09-01T14:27:48.859" v="13" actId="14100"/>
          <ac:picMkLst>
            <pc:docMk/>
            <pc:sldMk cId="1686213229" sldId="322"/>
            <ac:picMk id="8" creationId="{A223D168-08B5-67A8-BDD8-A1E76D53FE28}"/>
          </ac:picMkLst>
        </pc:picChg>
      </pc:sldChg>
      <pc:sldChg chg="modSp mod">
        <pc:chgData name="simika kavi" userId="2f87e268613a4333" providerId="LiveId" clId="{7E5BBA48-4904-47FE-B8A2-E485628FD143}" dt="2025-09-02T03:22:28.843" v="102" actId="20577"/>
        <pc:sldMkLst>
          <pc:docMk/>
          <pc:sldMk cId="2113433211" sldId="323"/>
        </pc:sldMkLst>
        <pc:spChg chg="mod">
          <ac:chgData name="simika kavi" userId="2f87e268613a4333" providerId="LiveId" clId="{7E5BBA48-4904-47FE-B8A2-E485628FD143}" dt="2025-09-02T03:22:28.843" v="102" actId="20577"/>
          <ac:spMkLst>
            <pc:docMk/>
            <pc:sldMk cId="2113433211" sldId="323"/>
            <ac:spMk id="5" creationId="{8992C7A2-D223-68FA-B685-CF08EE560538}"/>
          </ac:spMkLst>
        </pc:spChg>
      </pc:sldChg>
      <pc:sldChg chg="addSp delSp modSp mod">
        <pc:chgData name="simika kavi" userId="2f87e268613a4333" providerId="LiveId" clId="{7E5BBA48-4904-47FE-B8A2-E485628FD143}" dt="2025-09-01T15:02:18.284" v="42" actId="21"/>
        <pc:sldMkLst>
          <pc:docMk/>
          <pc:sldMk cId="2793608372" sldId="325"/>
        </pc:sldMkLst>
        <pc:spChg chg="del">
          <ac:chgData name="simika kavi" userId="2f87e268613a4333" providerId="LiveId" clId="{7E5BBA48-4904-47FE-B8A2-E485628FD143}" dt="2025-09-01T15:02:18.284" v="42" actId="21"/>
          <ac:spMkLst>
            <pc:docMk/>
            <pc:sldMk cId="2793608372" sldId="325"/>
            <ac:spMk id="3" creationId="{8A364BB9-D13C-E800-AEC2-8B0BDE97DEEA}"/>
          </ac:spMkLst>
        </pc:spChg>
        <pc:picChg chg="mod">
          <ac:chgData name="simika kavi" userId="2f87e268613a4333" providerId="LiveId" clId="{7E5BBA48-4904-47FE-B8A2-E485628FD143}" dt="2025-09-01T15:01:56.400" v="41" actId="14100"/>
          <ac:picMkLst>
            <pc:docMk/>
            <pc:sldMk cId="2793608372" sldId="325"/>
            <ac:picMk id="5" creationId="{6BA59556-6DE9-10F9-6BFA-2722D8B15764}"/>
          </ac:picMkLst>
        </pc:picChg>
        <pc:picChg chg="add del mod">
          <ac:chgData name="simika kavi" userId="2f87e268613a4333" providerId="LiveId" clId="{7E5BBA48-4904-47FE-B8A2-E485628FD143}" dt="2025-09-01T15:01:34.710" v="36" actId="21"/>
          <ac:picMkLst>
            <pc:docMk/>
            <pc:sldMk cId="2793608372" sldId="325"/>
            <ac:picMk id="6" creationId="{89D4083D-F0DF-2D22-B4C3-89E50AF391FA}"/>
          </ac:picMkLst>
        </pc:picChg>
        <pc:picChg chg="mod">
          <ac:chgData name="simika kavi" userId="2f87e268613a4333" providerId="LiveId" clId="{7E5BBA48-4904-47FE-B8A2-E485628FD143}" dt="2025-09-01T15:01:51.371" v="40" actId="14100"/>
          <ac:picMkLst>
            <pc:docMk/>
            <pc:sldMk cId="2793608372" sldId="325"/>
            <ac:picMk id="7" creationId="{38FEEF04-3541-4D49-EDD5-A1E82FB1D6BE}"/>
          </ac:picMkLst>
        </pc:picChg>
      </pc:sldChg>
      <pc:sldChg chg="modSp mod">
        <pc:chgData name="simika kavi" userId="2f87e268613a4333" providerId="LiveId" clId="{7E5BBA48-4904-47FE-B8A2-E485628FD143}" dt="2025-09-02T04:02:22.549" v="179" actId="27636"/>
        <pc:sldMkLst>
          <pc:docMk/>
          <pc:sldMk cId="241243848" sldId="327"/>
        </pc:sldMkLst>
        <pc:spChg chg="mod">
          <ac:chgData name="simika kavi" userId="2f87e268613a4333" providerId="LiveId" clId="{7E5BBA48-4904-47FE-B8A2-E485628FD143}" dt="2025-09-02T04:02:22.549" v="179" actId="27636"/>
          <ac:spMkLst>
            <pc:docMk/>
            <pc:sldMk cId="241243848" sldId="327"/>
            <ac:spMk id="3" creationId="{5F48BA99-757D-08D9-3E03-ABB3B2F28E6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EF1FA5-DE19-9314-02FC-34B53354B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992" y="360680"/>
            <a:ext cx="8354727" cy="2496037"/>
          </a:xfrm>
        </p:spPr>
        <p:txBody>
          <a:bodyPr/>
          <a:lstStyle/>
          <a:p>
            <a:r>
              <a:rPr lang="en-US" sz="4000" dirty="0">
                <a:solidFill>
                  <a:srgbClr val="002060"/>
                </a:solidFill>
              </a:rPr>
              <a:t>Superstore Sales Dataset Analysis-</a:t>
            </a:r>
            <a:r>
              <a:rPr lang="en-IN" sz="4000" dirty="0">
                <a:solidFill>
                  <a:srgbClr val="002060"/>
                </a:solidFill>
              </a:rPr>
              <a:t>Advanced Excel Project </a:t>
            </a:r>
            <a:endParaRPr lang="en-IN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069751-4BF3-5C70-EC48-77E8352C3C3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321347" y="4919252"/>
            <a:ext cx="3693175" cy="1770916"/>
          </a:xfrm>
        </p:spPr>
        <p:txBody>
          <a:bodyPr/>
          <a:lstStyle/>
          <a:p>
            <a:r>
              <a:rPr lang="en-IN" dirty="0"/>
              <a:t>NAME		: B.KAVIYA</a:t>
            </a:r>
          </a:p>
          <a:p>
            <a:r>
              <a:rPr lang="en-IN" dirty="0"/>
              <a:t>COURSE	: DADS</a:t>
            </a:r>
          </a:p>
          <a:p>
            <a:r>
              <a:rPr lang="en-IN" dirty="0"/>
              <a:t>BATCH	: JULY-2025</a:t>
            </a:r>
          </a:p>
          <a:p>
            <a:r>
              <a:rPr lang="en-IN" dirty="0"/>
              <a:t>DATE		: 02-09-2025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5279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34" y="162047"/>
            <a:ext cx="6979172" cy="3266954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Arial"/>
                <a:ea typeface="Arial"/>
                <a:cs typeface="Arial"/>
                <a:sym typeface="Arial"/>
              </a:rPr>
              <a:t>Project Overview Objectives:</a:t>
            </a:r>
            <a:br>
              <a:rPr lang="en-US" sz="2800" dirty="0">
                <a:latin typeface="Arial"/>
                <a:ea typeface="Arial"/>
                <a:cs typeface="Arial"/>
                <a:sym typeface="Arial"/>
              </a:rPr>
            </a:br>
            <a:br>
              <a:rPr lang="en-US" sz="28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Objectives: </a:t>
            </a:r>
            <a:br>
              <a:rPr lang="en-US" sz="20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000" b="0" dirty="0">
                <a:latin typeface="Times New Roman" panose="02020603050405020304" pitchFamily="18" charset="0"/>
              </a:rPr>
              <a:t>"</a:t>
            </a:r>
            <a:r>
              <a:rPr lang="en-US" sz="2000" b="0" cap="none" dirty="0">
                <a:latin typeface="Times New Roman" panose="02020603050405020304" pitchFamily="18" charset="0"/>
              </a:rPr>
              <a:t>To analyze sales data to identify trends, understand sales performance, and provide actionable business insights</a:t>
            </a:r>
            <a:r>
              <a:rPr lang="en-US" sz="2000" b="0" dirty="0">
                <a:latin typeface="Times New Roman" panose="02020603050405020304" pitchFamily="18" charset="0"/>
              </a:rPr>
              <a:t>." </a:t>
            </a:r>
            <a:br>
              <a:rPr lang="en-US" sz="2000" b="0" dirty="0">
                <a:latin typeface="Times New Roman" panose="02020603050405020304" pitchFamily="18" charset="0"/>
              </a:rPr>
            </a:br>
            <a:br>
              <a:rPr lang="en-US" sz="2000" b="0" cap="none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000" b="0" cap="none" dirty="0">
                <a:latin typeface="Arial"/>
                <a:ea typeface="Arial"/>
                <a:cs typeface="Arial"/>
                <a:sym typeface="Arial"/>
              </a:rPr>
            </a:br>
            <a:endParaRPr lang="en-US" sz="20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108" y="3161692"/>
            <a:ext cx="6646024" cy="294952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GOALS:</a:t>
            </a:r>
          </a:p>
          <a:p>
            <a:endParaRPr lang="en-US" sz="2800" b="1" dirty="0">
              <a:latin typeface="Arial"/>
              <a:ea typeface="Arial"/>
              <a:cs typeface="Arial"/>
              <a:sym typeface="Arial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Analyze sales trends over time.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Identify high performance products and sales channel.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Determine the impact of returns and discounts.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Create a dynamic dashboard with key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matrics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457200"/>
            <a:ext cx="1066800" cy="471488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98" y="83449"/>
            <a:ext cx="4653022" cy="598572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Arial"/>
                <a:ea typeface="Arial"/>
                <a:cs typeface="Arial"/>
                <a:sym typeface="Arial"/>
              </a:rPr>
              <a:t>Data Description :</a:t>
            </a:r>
            <a:endParaRPr lang="en-US" sz="28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C584774-29B4-A117-F32A-C95752C3A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792" y="1944548"/>
            <a:ext cx="6926374" cy="4751406"/>
          </a:xfrm>
        </p:spPr>
        <p:txBody>
          <a:bodyPr>
            <a:normAutofit/>
          </a:bodyPr>
          <a:lstStyle/>
          <a:p>
            <a:br>
              <a:rPr lang="en-US" sz="29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074225-40C2-1D40-3370-903B26F4EFA0}"/>
              </a:ext>
            </a:extLst>
          </p:cNvPr>
          <p:cNvSpPr txBox="1"/>
          <p:nvPr/>
        </p:nvSpPr>
        <p:spPr>
          <a:xfrm>
            <a:off x="451413" y="1050697"/>
            <a:ext cx="611143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Times New Roman" panose="02020603050405020304" pitchFamily="18" charset="0"/>
              </a:rPr>
              <a:t>		9900+</a:t>
            </a:r>
            <a:r>
              <a:rPr lang="en-US" sz="2000" b="0" i="0" u="none" strike="noStrike" baseline="0" dirty="0">
                <a:solidFill>
                  <a:schemeClr val="accent6"/>
                </a:solidFill>
                <a:latin typeface="Times New Roman" panose="02020603050405020304" pitchFamily="18" charset="0"/>
              </a:rPr>
              <a:t> rows, columns such as Order ID, Sale ID, Product Type, etc. </a:t>
            </a:r>
          </a:p>
          <a:p>
            <a:endParaRPr lang="en-US" sz="2000" dirty="0">
              <a:solidFill>
                <a:schemeClr val="accent6"/>
              </a:solidFill>
              <a:latin typeface="Times New Roman" panose="02020603050405020304" pitchFamily="18" charset="0"/>
            </a:endParaRPr>
          </a:p>
          <a:p>
            <a:endParaRPr lang="en-IN" sz="2000" dirty="0">
              <a:solidFill>
                <a:schemeClr val="accent6"/>
              </a:solidFill>
            </a:endParaRPr>
          </a:p>
          <a:p>
            <a:r>
              <a:rPr lang="en-IN" sz="20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 :</a:t>
            </a:r>
          </a:p>
          <a:p>
            <a:endParaRPr lang="en-IN" sz="20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formatting(dd-mm-</a:t>
            </a:r>
            <a:r>
              <a:rPr lang="en-IN" sz="20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yyyy</a:t>
            </a:r>
            <a:r>
              <a:rPr lang="en-IN" sz="2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Discount as percentage(%)</a:t>
            </a:r>
          </a:p>
          <a:p>
            <a:endParaRPr lang="en-IN" sz="20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 as currency($)</a:t>
            </a:r>
          </a:p>
          <a:p>
            <a:endParaRPr lang="en-IN" sz="20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records</a:t>
            </a:r>
          </a:p>
          <a:p>
            <a:endParaRPr lang="en-IN" sz="20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as correction of 2 decimal values</a:t>
            </a:r>
          </a:p>
          <a:p>
            <a:endParaRPr lang="en-IN" sz="20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blanks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317" y="231493"/>
            <a:ext cx="10957366" cy="879675"/>
          </a:xfrm>
        </p:spPr>
        <p:txBody>
          <a:bodyPr/>
          <a:lstStyle/>
          <a:p>
            <a:r>
              <a:rPr lang="en-US" sz="2800" dirty="0">
                <a:latin typeface="Arial"/>
                <a:ea typeface="Arial"/>
                <a:cs typeface="Arial"/>
                <a:sym typeface="Arial"/>
              </a:rPr>
              <a:t>RAW DATA 					Cleaned data</a:t>
            </a:r>
            <a:br>
              <a:rPr lang="en-US" sz="2800" dirty="0">
                <a:latin typeface="Arial"/>
                <a:ea typeface="Arial"/>
                <a:cs typeface="Arial"/>
                <a:sym typeface="Arial"/>
              </a:rPr>
            </a:br>
            <a:endParaRPr lang="en-US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CEBA283-E701-CFF1-8B14-0012C0E4051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270077" y="972274"/>
            <a:ext cx="5744901" cy="55211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AFFA3D-EE65-EE87-3C18-075CC44E5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7022" y="972273"/>
            <a:ext cx="5744901" cy="552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9511" y="141183"/>
            <a:ext cx="6529213" cy="632031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Key Metrics Calculation: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01337" y="1527858"/>
            <a:ext cx="7965460" cy="42409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Adjusted Sales = Sales × (1 - Discount)</a:t>
            </a:r>
          </a:p>
          <a:p>
            <a:pPr marL="285750" indent="-28575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= Sum of Adjusted Sales</a:t>
            </a:r>
          </a:p>
          <a:p>
            <a:pPr marL="285750" indent="-28575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Value (AOV) = Total Revenue / Number of Transactions</a:t>
            </a:r>
          </a:p>
          <a:p>
            <a:pPr marL="285750" indent="-28575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Amount = Sales × Discount</a:t>
            </a:r>
          </a:p>
          <a:p>
            <a:pPr marL="285750" indent="-28575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Discounts = Sum of all Discount Amounts per transaction</a:t>
            </a: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6C1F6-0E8F-A6AB-4670-ECA4787E6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211" y="85000"/>
            <a:ext cx="7965460" cy="1041721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Formulas to Extract Insights 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8BA99-757D-08D9-3E03-ABB3B2F28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1006998"/>
            <a:ext cx="7965460" cy="47937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COUNTIF — Single Condition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=COUNTIF(range, criteria)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all "Consumer" orders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SUMIF— Multiple Conditions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=SUMIF(range, criteria, [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sum_range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how many orders were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Furniture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made by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AVERAGEIF — Single Condition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=AVERAGEIF(range, criteria,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average_range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Discount for the Consumer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243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0F9D9C3-2258-B1CA-E88D-1D903BC58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99" y="92475"/>
            <a:ext cx="11537916" cy="736333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METRICS &amp; INSIGHTS CALCULATION AND DATA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140204-7BAC-A90E-6428-8BE329648A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76209" y="2093577"/>
            <a:ext cx="5578323" cy="33372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16D6FB-4123-58AA-3AF1-D2BD2CAED2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4938" y="1504783"/>
            <a:ext cx="7156939" cy="424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44B2700-BE99-6885-A589-6219623B35A2}"/>
              </a:ext>
            </a:extLst>
          </p:cNvPr>
          <p:cNvSpPr txBox="1"/>
          <p:nvPr/>
        </p:nvSpPr>
        <p:spPr>
          <a:xfrm>
            <a:off x="5624994" y="1076029"/>
            <a:ext cx="60940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964025-5DFD-3424-5815-F30B395EE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34" y="1"/>
            <a:ext cx="7021285" cy="107602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 TABLE AND CHARTS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992C7A2-D223-68FA-B685-CF08EE560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936" y="1169379"/>
            <a:ext cx="7359161" cy="4905248"/>
          </a:xfrm>
        </p:spPr>
        <p:txBody>
          <a:bodyPr>
            <a:normAutofit fontScale="92500" lnSpcReduction="20000"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 by Product Type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Fields Used: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Segment &amp; Category</a:t>
            </a:r>
          </a:p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Analyze sales and profit performance by product type.</a:t>
            </a:r>
          </a:p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Pivot Setup:</a:t>
            </a:r>
          </a:p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Rows: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Segment &amp; Category </a:t>
            </a:r>
          </a:p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Values:</a:t>
            </a:r>
          </a:p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Adjusted Sales (Sum)</a:t>
            </a:r>
          </a:p>
          <a:p>
            <a:pPr lvl="2"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 (Sum)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Chart: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Bar or Column Chart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433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73CACA-197F-702D-06B7-376F4A2B4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1" y="367938"/>
            <a:ext cx="10671048" cy="883920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						CHART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B23DA3-954A-109F-3B07-54DE0B08F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793" y="1574800"/>
            <a:ext cx="6567006" cy="45302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52047F-3D9E-3BD8-B800-2D2B724FD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574800"/>
            <a:ext cx="4063999" cy="453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31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2468" y="290612"/>
            <a:ext cx="4996543" cy="567483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DC614E-43D5-172A-3217-F1166F498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4303"/>
            <a:ext cx="12016154" cy="514891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5105" y="457199"/>
            <a:ext cx="4256595" cy="445559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WHAT-IF ANALYSIS: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1160586"/>
            <a:ext cx="9589290" cy="1336429"/>
          </a:xfrm>
        </p:spPr>
        <p:txBody>
          <a:bodyPr/>
          <a:lstStyle/>
          <a:p>
            <a:r>
              <a:rPr lang="en-US" dirty="0"/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the values in cells to see how those changes will affect the outcome of formulas on your worksheet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is a powerful forecasting and planning tool that allows you to explore multiple scenarios and make data-driven decisions without changing your original data.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60CC0F-760D-C6DA-C4CC-002D8F7F78C7}"/>
              </a:ext>
            </a:extLst>
          </p:cNvPr>
          <p:cNvSpPr txBox="1"/>
          <p:nvPr/>
        </p:nvSpPr>
        <p:spPr>
          <a:xfrm>
            <a:off x="3559315" y="2497015"/>
            <a:ext cx="464139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defTabSz="91440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rgbClr val="083D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 Value Calculation:</a:t>
            </a:r>
          </a:p>
          <a:p>
            <a:pPr lvl="0" defTabSz="914400">
              <a:defRPr/>
            </a:pPr>
            <a:r>
              <a:rPr lang="en-US" sz="1600" dirty="0">
                <a:solidFill>
                  <a:srgbClr val="083D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=Sales*(1-Discount)*Quantity</a:t>
            </a:r>
          </a:p>
          <a:p>
            <a:pPr marL="457200" lvl="0" indent="-457200" defTabSz="91440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rgbClr val="083D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5% Decreased Discount:</a:t>
            </a:r>
          </a:p>
          <a:p>
            <a:pPr lvl="0">
              <a:defRPr/>
            </a:pPr>
            <a:r>
              <a:rPr lang="en-US" sz="1600" dirty="0">
                <a:solidFill>
                  <a:srgbClr val="083D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=</a:t>
            </a:r>
            <a:r>
              <a:rPr lang="en-US" sz="1600" dirty="0" err="1">
                <a:solidFill>
                  <a:srgbClr val="083D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Netvalue</a:t>
            </a:r>
            <a:r>
              <a:rPr lang="en-US" sz="1600" dirty="0">
                <a:solidFill>
                  <a:srgbClr val="083D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*((1-Discount)-0.05)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A8004C5-1B29-BECC-E75E-F049D8D9848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42311"/>
          <a:stretch>
            <a:fillRect/>
          </a:stretch>
        </p:blipFill>
        <p:spPr>
          <a:xfrm>
            <a:off x="3074564" y="3717899"/>
            <a:ext cx="5462767" cy="268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203" y="616112"/>
            <a:ext cx="3923917" cy="471489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SEEKING: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07764" y="1274328"/>
            <a:ext cx="8349574" cy="178539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simple words, Goal Seek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Excel's "back-solving" tool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You tell it what final result you want to get from a formula, and it automatically figures out what single input number you need to make that happen.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you manually guessing and checking different numbers to reach a goal, Goal Seek does it instantly.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1FA5586-A10D-20A4-790F-A2A8781B8B1C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rcRect r="7220"/>
          <a:stretch>
            <a:fillRect/>
          </a:stretch>
        </p:blipFill>
        <p:spPr>
          <a:xfrm>
            <a:off x="6656511" y="3437792"/>
            <a:ext cx="3270004" cy="23205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54AC06-5E80-0D2B-52B8-D67DE55E1A34}"/>
              </a:ext>
            </a:extLst>
          </p:cNvPr>
          <p:cNvSpPr txBox="1"/>
          <p:nvPr/>
        </p:nvSpPr>
        <p:spPr>
          <a:xfrm>
            <a:off x="2418618" y="3725661"/>
            <a:ext cx="384150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defTabSz="91440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rgbClr val="083D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 Value Calculation:</a:t>
            </a:r>
          </a:p>
          <a:p>
            <a:pPr lvl="0" defTabSz="914400">
              <a:defRPr/>
            </a:pPr>
            <a:r>
              <a:rPr lang="en-US" sz="1600" dirty="0">
                <a:solidFill>
                  <a:srgbClr val="083D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=Sales*(1-Discount)*Quantity</a:t>
            </a:r>
          </a:p>
          <a:p>
            <a:pPr marL="457200" lvl="0" indent="-457200" defTabSz="91440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rgbClr val="083D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5% Decreased Discount:</a:t>
            </a:r>
          </a:p>
          <a:p>
            <a:pPr lvl="0">
              <a:defRPr/>
            </a:pPr>
            <a:r>
              <a:rPr lang="en-US" sz="1600" dirty="0">
                <a:solidFill>
                  <a:srgbClr val="083D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=</a:t>
            </a:r>
            <a:r>
              <a:rPr lang="en-US" sz="1600" dirty="0" err="1">
                <a:solidFill>
                  <a:srgbClr val="083D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Netvalue</a:t>
            </a:r>
            <a:r>
              <a:rPr lang="en-US" sz="1600" dirty="0">
                <a:solidFill>
                  <a:srgbClr val="083D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*((1-Discount)-0.05)</a:t>
            </a:r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670" y="639535"/>
            <a:ext cx="7218484" cy="48138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MANAGER &amp; SUMMARY: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DB9CB-20CA-E04D-E9D4-561889B1F4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87779" y="1248510"/>
            <a:ext cx="8621152" cy="1679329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Scenario Manager: </a:t>
            </a:r>
            <a:r>
              <a:rPr lang="en-US" dirty="0"/>
              <a:t>A tool in Excel that lets you create and compare different sets of input values (scenarios) to see their impact on results.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Scenario Summary: </a:t>
            </a:r>
            <a:r>
              <a:rPr lang="en-US" dirty="0"/>
              <a:t>A report that displays the results of multiple scenarios side by side for easy comparison.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23D168-08B5-67A8-BDD8-A1E76D53F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779" y="3266445"/>
            <a:ext cx="2686344" cy="23430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5289BF-D003-C967-23C4-2E73AE932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847" y="2048609"/>
            <a:ext cx="639485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D4146-10D7-B713-C31B-6D8D28B4D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999" y="602309"/>
            <a:ext cx="6855186" cy="684042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PIVOT AND POWER QUERY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A59556-6DE9-10F9-6BFA-2722D8B15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43" y="1745376"/>
            <a:ext cx="5447388" cy="45103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FEEF04-3541-4D49-EDD5-A1E82FB1D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432" y="1745375"/>
            <a:ext cx="6256678" cy="451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608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{5061322F-D11B-45F0-92F5-F665302C2309}tf78438558_win32</Template>
  <TotalTime>2586</TotalTime>
  <Words>575</Words>
  <Application>Microsoft Office PowerPoint</Application>
  <PresentationFormat>Widescreen</PresentationFormat>
  <Paragraphs>95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Black</vt:lpstr>
      <vt:lpstr>Calibri</vt:lpstr>
      <vt:lpstr>Sabon Next LT</vt:lpstr>
      <vt:lpstr>Times New Roman</vt:lpstr>
      <vt:lpstr>Wingdings</vt:lpstr>
      <vt:lpstr>Custom</vt:lpstr>
      <vt:lpstr>Superstore Sales Dataset Analysis-Advanced Excel Project </vt:lpstr>
      <vt:lpstr>Project Overview Objectives:  Objectives:    "To analyze sales data to identify trends, understand sales performance, and provide actionable business insights."    </vt:lpstr>
      <vt:lpstr>Data Description :</vt:lpstr>
      <vt:lpstr>RAW DATA      Cleaned data </vt:lpstr>
      <vt:lpstr>Key Metrics Calculation:</vt:lpstr>
      <vt:lpstr>Use Formulas to Extract Insights : </vt:lpstr>
      <vt:lpstr>KEY METRICS &amp; INSIGHTS CALCULATION AND DATA ANALYSIS</vt:lpstr>
      <vt:lpstr>PIVOT TABLE AND CHARTS  </vt:lpstr>
      <vt:lpstr>TABLE      CHART</vt:lpstr>
      <vt:lpstr>DASHBOARD</vt:lpstr>
      <vt:lpstr>WHAT-IF ANALYSIS:</vt:lpstr>
      <vt:lpstr>GOAL SEEKING:</vt:lpstr>
      <vt:lpstr>SCENARIO MANAGER &amp; SUMMARY:</vt:lpstr>
      <vt:lpstr>POWER PIVOT AND POWER QUERY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simika kavi</dc:creator>
  <cp:lastModifiedBy>simika kavi</cp:lastModifiedBy>
  <cp:revision>3</cp:revision>
  <dcterms:created xsi:type="dcterms:W3CDTF">2025-08-28T05:15:00Z</dcterms:created>
  <dcterms:modified xsi:type="dcterms:W3CDTF">2025-09-02T04:16:26Z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